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Основная версия" id="{18c66ab1-214e-ce3f-04eb-1b6dda0e78f2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Резерв" id="{ce6fb0e3-adf6-2014-8379-1c7e18e05b12}">
          <p14:sldIdLst>
            <p14:sldId id="264"/>
            <p14:sldId id="265"/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Мы Qadam. Мы сделали сервис для продавца на рынке Тараза: он говорит о продаже своими словами, а Qadam готовит запись, учитывает частичную оплату и показывает остаток долга. Всё, что вы увидите, работает по этой ссылке. (0:20)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Возьмём обычную ситуацию. Покупатель взял товар на 3 000, отдал 1 000, остальное обещал потом. Продавцу надо записать продажу, отметить оплату и помнить долг. Часто это тетрадь, заметки или переписка, и через неделю уже сложно восстановить, кто сколько должен. Это наша гипотеза: исследования мы не проводили, проверим её в пилоте. (0:35)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 здесь делает одну работу: превращает живую речь в структурированный черновик. Сумма, полученные деньги, клиент. Если чего-то не хватает, Qadam спрашивает, а не выдумывает. Записывает только продавец, после проверки. Деньги считает сервер в целых тиынах. Если AI не ответил, продавец заполняет ту же форму вручную. (0:40)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Покажу вживую. [Демо 60 секунд: продажа голосом 3 000 / 1 000, подтверждение, доплата 500, итог дня.] Продажи остались 3 000, потому что доплата — не новая продажа. Поступления 1 500, долг 1 500. Повторное нажатие не создаёт дубль. (1:15 вместе с демо)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Мы не говорим «в пять раз быстрее»: таких данных у нас нет. Есть один контрольный запрос к AI на рабочем сервере: 4,7 секунды, сумма 3 000 и оплата 1 000 распознаны верно. Сравнение ручного ввода и голоса мы проводим на одинаковых операциях. Если таблица заполнена к защите — показываем цифры, если нет — честно оставляем пустой. (0:40)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MVP работает в сети: сайт на Cloudflare, API на Render, вход через Supabase. Продавец видит только свои точки: при запросе к чужой сервер отвечает «не найдено». Повтор запроса не создаёт вторую запись. Покупатель может найти точку через 3D-витрину и отправить заявку, она приходит нужному продавцу. Это дополнительный вход, а главное — учёт. (0:35)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Дальше нам нужна проверка на живых продавцах: 3–5 точек, две недели. Будем мерить время на запись, точность черновиков, число исправлений и то, пользуются ли продавцы сервисом через неделю. Модель оплаты мы пока не проверяли: гипотеза — небольшая подписка для точки. (0:35)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Qadam помогает продавцу не держать долги в голове. Нам нужны 3–5 продавцов для пилота и ваша обратная связь. Спасибо. (0:20)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Резерв: если спросят о готовности. Называем только принятое и прямо говорим, что не завершено.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Резерв: вопросы о безопасности и данных.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Резерв: «Почему не тетрадь или Excel?» Не утверждаем, что лучше для всех. Отличие — одна фраза на RU/KZ и долг, который считает сервер.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Резерв: как будем доказывать пользу. Цифры появляются только из реальных замеров.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ADAM_DARK">
    <p:bg>
      <p:bgPr>
        <a:solidFill>
          <a:srgbClr val="103B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ADAM_CONTENT">
    <p:bg>
      <p:bgPr>
        <a:solidFill>
          <a:srgbClr val="F5F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54864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Qadam Business · Zhambyl Hub · 2026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8685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8685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C:\Users\karab\AppData\Local\Temp\claude\C--Users-karab-Documents-Codex-2026-10-15-x20-work-qadamx-taraz\98b8d6a1-c5ca-4d94-a3c0-6a78f348368c\scratchpad\deck\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85800"/>
            <a:ext cx="685800" cy="6858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508760" y="77724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</a:rPr>
              <a:t>ZHAMBYL HUB · ТРЕК AI · AI FOR SME &amp; LOCAL BUSINESS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169164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chemeClr val="bg1"/>
                </a:solidFill>
              </a:rPr>
              <a:t>Qadam Business</a:t>
            </a:r>
            <a:endParaRPr lang="en-US" sz="5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2697480"/>
            <a:ext cx="5669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chemeClr val="bg1"/>
                </a:solidFill>
              </a:rPr>
              <a:t>Скажите о продаже — Qadam подготовит запись и посчитает долг</a:t>
            </a:r>
            <a:endParaRPr lang="en-US" sz="26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3977640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2E2D4"/>
                </a:solidFill>
              </a:rPr>
              <a:t>Для продавцов рынков и магазинов Тараза · RU / KZ</a:t>
            </a:r>
            <a:endParaRPr lang="en-US" sz="1600" dirty="0"/>
          </a:p>
        </p:txBody>
      </p:sp>
      <p:sp>
        <p:nvSpPr>
          <p:cNvPr id="7" name="qr-frame"/>
          <p:cNvSpPr/>
          <p:nvPr/>
        </p:nvSpPr>
        <p:spPr>
          <a:xfrm>
            <a:off x="640080" y="4663440"/>
            <a:ext cx="1508760" cy="1508760"/>
          </a:xfrm>
          <a:prstGeom prst="roundRect">
            <a:avLst>
              <a:gd name="adj" fmla="val 848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8" name="qr-site" descr="C:\Users\karab\AppData\Local\Temp\claude\C--Users-karab-Documents-Codex-2026-10-15-x20-work-qadamx-taraz\98b8d6a1-c5ca-4d94-a3c0-6a78f348368c\scratchpad\deck\qr-s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4736592"/>
            <a:ext cx="1362456" cy="136245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2377440" y="498348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Откройте сайт</a:t>
            </a:r>
            <a:endParaRPr lang="en-US" sz="1400" dirty="0"/>
          </a:p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qadamx-taraz.pages.dev</a:t>
            </a:r>
            <a:endParaRPr lang="en-US" sz="1400" dirty="0"/>
          </a:p>
        </p:txBody>
      </p:sp>
      <p:sp>
        <p:nvSpPr>
          <p:cNvPr id="10" name="shot-frame"/>
          <p:cNvSpPr/>
          <p:nvPr/>
        </p:nvSpPr>
        <p:spPr>
          <a:xfrm>
            <a:off x="6720840" y="1051560"/>
            <a:ext cx="4937760" cy="4343400"/>
          </a:xfrm>
          <a:prstGeom prst="roundRect">
            <a:avLst>
              <a:gd name="adj" fmla="val 4211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11" name="hero" descr="C:\Users\karab\AppData\Local\Temp\claude\C--Users-karab-Documents-Codex-2026-10-15-x20-work-qadamx-taraz\98b8d6a1-c5ca-4d94-a3c0-6a78f348368c\scratchpad\deck\her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188720"/>
            <a:ext cx="4663440" cy="3913632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6720840" y="55321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2E2D4"/>
                </a:solidFill>
              </a:rPr>
              <a:t>Витрина сайта · учебные данные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Продавцу нужно помнить три вещи</a:t>
            </a:r>
            <a:endParaRPr lang="en-US" sz="3400" dirty="0"/>
          </a:p>
        </p:txBody>
      </p:sp>
      <p:sp>
        <p:nvSpPr>
          <p:cNvPr id="3" name="card"/>
          <p:cNvSpPr/>
          <p:nvPr/>
        </p:nvSpPr>
        <p:spPr>
          <a:xfrm>
            <a:off x="548640" y="1417320"/>
            <a:ext cx="11094415" cy="960120"/>
          </a:xfrm>
          <a:prstGeom prst="roundRect">
            <a:avLst>
              <a:gd name="adj" fmla="val 17143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103B31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868680" y="1417320"/>
            <a:ext cx="1045433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chemeClr val="tx1"/>
                </a:solidFill>
              </a:rPr>
              <a:t>«Покупатель берёт товар на 3 000 ₸, отдаёт 1 000 ₸, остальное — потом»</a:t>
            </a:r>
            <a:endParaRPr lang="en-US" sz="2200" dirty="0"/>
          </a:p>
        </p:txBody>
      </p:sp>
      <p:sp>
        <p:nvSpPr>
          <p:cNvPr id="5" name="step-1"/>
          <p:cNvSpPr/>
          <p:nvPr/>
        </p:nvSpPr>
        <p:spPr>
          <a:xfrm>
            <a:off x="548640" y="2697480"/>
            <a:ext cx="3515258" cy="2286000"/>
          </a:xfrm>
          <a:prstGeom prst="roundRect">
            <a:avLst>
              <a:gd name="adj" fmla="val 72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103B31">
                <a:alpha val="12000"/>
              </a:srgbClr>
            </a:outerShdw>
          </a:effectLst>
        </p:spPr>
      </p:sp>
      <p:sp>
        <p:nvSpPr>
          <p:cNvPr id="6" name="num-1"/>
          <p:cNvSpPr/>
          <p:nvPr/>
        </p:nvSpPr>
        <p:spPr>
          <a:xfrm>
            <a:off x="868680" y="297180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2971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1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611880"/>
            <a:ext cx="28751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accent4"/>
                </a:solidFill>
              </a:rPr>
              <a:t>Записать сумму продажи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4160520"/>
            <a:ext cx="28751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tx2"/>
                </a:solidFill>
              </a:rPr>
              <a:t>3 000 ₸</a:t>
            </a:r>
            <a:endParaRPr lang="en-US" sz="4000" dirty="0"/>
          </a:p>
        </p:txBody>
      </p:sp>
      <p:sp>
        <p:nvSpPr>
          <p:cNvPr id="10" name="step-2"/>
          <p:cNvSpPr/>
          <p:nvPr/>
        </p:nvSpPr>
        <p:spPr>
          <a:xfrm>
            <a:off x="4338218" y="2697480"/>
            <a:ext cx="3515258" cy="2286000"/>
          </a:xfrm>
          <a:prstGeom prst="roundRect">
            <a:avLst>
              <a:gd name="adj" fmla="val 72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103B31">
                <a:alpha val="12000"/>
              </a:srgbClr>
            </a:outerShdw>
          </a:effectLst>
        </p:spPr>
      </p:sp>
      <p:sp>
        <p:nvSpPr>
          <p:cNvPr id="11" name="num-2"/>
          <p:cNvSpPr/>
          <p:nvPr/>
        </p:nvSpPr>
        <p:spPr>
          <a:xfrm>
            <a:off x="4658258" y="297180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658258" y="2971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2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658258" y="3611880"/>
            <a:ext cx="28751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accent4"/>
                </a:solidFill>
              </a:rPr>
              <a:t>Отметить, сколько получено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4658258" y="4160520"/>
            <a:ext cx="28751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tx2"/>
                </a:solidFill>
              </a:rPr>
              <a:t>1 000 ₸</a:t>
            </a:r>
            <a:endParaRPr lang="en-US" sz="4000" dirty="0"/>
          </a:p>
        </p:txBody>
      </p:sp>
      <p:sp>
        <p:nvSpPr>
          <p:cNvPr id="15" name="step-3"/>
          <p:cNvSpPr/>
          <p:nvPr/>
        </p:nvSpPr>
        <p:spPr>
          <a:xfrm>
            <a:off x="8127797" y="2697480"/>
            <a:ext cx="3515258" cy="2286000"/>
          </a:xfrm>
          <a:prstGeom prst="roundRect">
            <a:avLst>
              <a:gd name="adj" fmla="val 72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  <a:effectLst>
            <a:outerShdw sx="100000" sy="100000" kx="0" ky="0" algn="bl" rotWithShape="0" blurRad="101600" dist="25400" dir="5400000">
              <a:srgbClr val="103B31">
                <a:alpha val="12000"/>
              </a:srgbClr>
            </a:outerShdw>
          </a:effectLst>
        </p:spPr>
      </p:sp>
      <p:sp>
        <p:nvSpPr>
          <p:cNvPr id="16" name="num-3"/>
          <p:cNvSpPr/>
          <p:nvPr/>
        </p:nvSpPr>
        <p:spPr>
          <a:xfrm>
            <a:off x="8447837" y="297180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447837" y="2971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3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8447837" y="3611880"/>
            <a:ext cx="28751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Помнить, кто и сколько должен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8447837" y="4160520"/>
            <a:ext cx="28751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2 000 ₸</a:t>
            </a:r>
            <a:endParaRPr lang="en-US" sz="40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525780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4"/>
                </a:solidFill>
              </a:rPr>
              <a:t>Сейчас это тетрадь, заметки или переписка, и через неделю сложно восстановить, кто сколько должен. Гипотеза команды: опросов не было, проверим в пилоте.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8685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AI готовит черновик, решение за продавцом</a:t>
            </a:r>
            <a:endParaRPr lang="en-US" sz="3400" dirty="0"/>
          </a:p>
        </p:txBody>
      </p:sp>
      <p:sp>
        <p:nvSpPr>
          <p:cNvPr id="3" name="flow-1"/>
          <p:cNvSpPr/>
          <p:nvPr/>
        </p:nvSpPr>
        <p:spPr>
          <a:xfrm>
            <a:off x="548640" y="1691640"/>
            <a:ext cx="1911645" cy="1965960"/>
          </a:xfrm>
          <a:prstGeom prst="roundRect">
            <a:avLst>
              <a:gd name="adj" fmla="val 861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103B31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731520" y="2286000"/>
            <a:ext cx="154588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Голос или текст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880360"/>
            <a:ext cx="154588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RU, KZ или смешанная речь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2460285" y="2377440"/>
            <a:ext cx="384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→</a:t>
            </a:r>
            <a:endParaRPr lang="en-US" sz="2400" dirty="0"/>
          </a:p>
        </p:txBody>
      </p:sp>
      <p:sp>
        <p:nvSpPr>
          <p:cNvPr id="7" name="flow-2"/>
          <p:cNvSpPr/>
          <p:nvPr/>
        </p:nvSpPr>
        <p:spPr>
          <a:xfrm>
            <a:off x="2844333" y="1691640"/>
            <a:ext cx="1911645" cy="1965960"/>
          </a:xfrm>
          <a:prstGeom prst="roundRect">
            <a:avLst>
              <a:gd name="adj" fmla="val 861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103B31">
                <a:alpha val="12000"/>
              </a:srgbClr>
            </a:outerShdw>
          </a:effectLst>
        </p:spPr>
      </p:sp>
      <p:sp>
        <p:nvSpPr>
          <p:cNvPr id="8" name="pill"/>
          <p:cNvSpPr/>
          <p:nvPr/>
        </p:nvSpPr>
        <p:spPr>
          <a:xfrm>
            <a:off x="3027213" y="1874520"/>
            <a:ext cx="548640" cy="329184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027213" y="1874520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AI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3027213" y="2286000"/>
            <a:ext cx="154588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Речь в текст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3027213" y="2880360"/>
            <a:ext cx="154588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распознавание, AI на сервере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755977" y="2377440"/>
            <a:ext cx="384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→</a:t>
            </a:r>
            <a:endParaRPr lang="en-US" sz="2400" dirty="0"/>
          </a:p>
        </p:txBody>
      </p:sp>
      <p:sp>
        <p:nvSpPr>
          <p:cNvPr id="13" name="flow-3"/>
          <p:cNvSpPr/>
          <p:nvPr/>
        </p:nvSpPr>
        <p:spPr>
          <a:xfrm>
            <a:off x="5140025" y="1691640"/>
            <a:ext cx="1911645" cy="1965960"/>
          </a:xfrm>
          <a:prstGeom prst="roundRect">
            <a:avLst>
              <a:gd name="adj" fmla="val 861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103B31">
                <a:alpha val="12000"/>
              </a:srgbClr>
            </a:outerShdw>
          </a:effectLst>
        </p:spPr>
      </p:sp>
      <p:sp>
        <p:nvSpPr>
          <p:cNvPr id="14" name="pill"/>
          <p:cNvSpPr/>
          <p:nvPr/>
        </p:nvSpPr>
        <p:spPr>
          <a:xfrm>
            <a:off x="5322905" y="1874520"/>
            <a:ext cx="548640" cy="329184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322905" y="1874520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AI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322905" y="2286000"/>
            <a:ext cx="154588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Черновик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5322905" y="2880360"/>
            <a:ext cx="154588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сумма, оплата, клиент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7051670" y="2377440"/>
            <a:ext cx="384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→</a:t>
            </a:r>
            <a:endParaRPr lang="en-US" sz="2400" dirty="0"/>
          </a:p>
        </p:txBody>
      </p:sp>
      <p:sp>
        <p:nvSpPr>
          <p:cNvPr id="19" name="flow-4"/>
          <p:cNvSpPr/>
          <p:nvPr/>
        </p:nvSpPr>
        <p:spPr>
          <a:xfrm>
            <a:off x="7435718" y="1691640"/>
            <a:ext cx="1911645" cy="1965960"/>
          </a:xfrm>
          <a:prstGeom prst="roundRect">
            <a:avLst>
              <a:gd name="adj" fmla="val 861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103B31">
                <a:alpha val="12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7618598" y="2286000"/>
            <a:ext cx="154588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Проверка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7618598" y="2880360"/>
            <a:ext cx="154588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продавец исправляет и подтверждает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9347363" y="2377440"/>
            <a:ext cx="384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→</a:t>
            </a:r>
            <a:endParaRPr lang="en-US" sz="2400" dirty="0"/>
          </a:p>
        </p:txBody>
      </p:sp>
      <p:sp>
        <p:nvSpPr>
          <p:cNvPr id="23" name="flow-5"/>
          <p:cNvSpPr/>
          <p:nvPr/>
        </p:nvSpPr>
        <p:spPr>
          <a:xfrm>
            <a:off x="9731411" y="1691640"/>
            <a:ext cx="1911645" cy="1965960"/>
          </a:xfrm>
          <a:prstGeom prst="roundRect">
            <a:avLst>
              <a:gd name="adj" fmla="val 861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  <a:effectLst>
            <a:outerShdw sx="100000" sy="100000" kx="0" ky="0" algn="bl" rotWithShape="0" blurRad="101600" dist="25400" dir="5400000">
              <a:srgbClr val="103B31">
                <a:alpha val="12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9914291" y="2286000"/>
            <a:ext cx="154588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2"/>
                </a:solidFill>
              </a:rPr>
              <a:t>Запись</a:t>
            </a:r>
            <a:endParaRPr lang="en-US" sz="1700" dirty="0"/>
          </a:p>
        </p:txBody>
      </p:sp>
      <p:sp>
        <p:nvSpPr>
          <p:cNvPr id="25" name="Text 23"/>
          <p:cNvSpPr txBox="1"/>
          <p:nvPr/>
        </p:nvSpPr>
        <p:spPr>
          <a:xfrm>
            <a:off x="9914291" y="2880360"/>
            <a:ext cx="154588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сервер считает долг в тиынах</a:t>
            </a:r>
            <a:endParaRPr lang="en-US" sz="1400" dirty="0"/>
          </a:p>
        </p:txBody>
      </p:sp>
      <p:sp>
        <p:nvSpPr>
          <p:cNvPr id="26" name="note-1"/>
          <p:cNvSpPr/>
          <p:nvPr/>
        </p:nvSpPr>
        <p:spPr>
          <a:xfrm>
            <a:off x="548640" y="3977640"/>
            <a:ext cx="5410048" cy="123444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103B31">
                <a:alpha val="12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822960" y="4069080"/>
            <a:ext cx="48614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Неясно — вопрос, а не догадка</a:t>
            </a:r>
            <a:endParaRPr lang="en-US" sz="17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Если в фразе нет суммы оплаты или клиента, Qadam спрашивает и ничего не выдумывает</a:t>
            </a:r>
            <a:endParaRPr lang="en-US" sz="1700" dirty="0"/>
          </a:p>
        </p:txBody>
      </p:sp>
      <p:sp>
        <p:nvSpPr>
          <p:cNvPr id="28" name="note-2"/>
          <p:cNvSpPr/>
          <p:nvPr/>
        </p:nvSpPr>
        <p:spPr>
          <a:xfrm>
            <a:off x="6233008" y="3977640"/>
            <a:ext cx="5410048" cy="123444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103B31">
                <a:alpha val="12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6507328" y="4069080"/>
            <a:ext cx="48614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AI недоступен — ручной ввод</a:t>
            </a:r>
            <a:endParaRPr lang="en-US" sz="17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Тот же экран: продавец заполняет поля сам, учёт продолжает работать</a:t>
            </a:r>
            <a:endParaRPr lang="en-US" sz="170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544068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2"/>
                </a:solidFill>
              </a:rPr>
              <a:t>AI не записывает деньги. Запись появляется только после подтверждения продавца.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8685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3 000 продажи → 1 000 оплаты → 500 доплаты</a:t>
            </a:r>
            <a:endParaRPr lang="en-US" sz="3400" dirty="0"/>
          </a:p>
        </p:txBody>
      </p:sp>
      <p:sp>
        <p:nvSpPr>
          <p:cNvPr id="3" name="pill"/>
          <p:cNvSpPr/>
          <p:nvPr/>
        </p:nvSpPr>
        <p:spPr>
          <a:xfrm>
            <a:off x="548640" y="1280160"/>
            <a:ext cx="3017520" cy="32918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280160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ЖИВОЕ ДЕМО · УЧЕБНАЯ ТОЧКА</a:t>
            </a:r>
            <a:endParaRPr lang="en-US" sz="1200" dirty="0"/>
          </a:p>
        </p:txBody>
      </p:sp>
      <p:sp>
        <p:nvSpPr>
          <p:cNvPr id="5" name="image-frame"/>
          <p:cNvSpPr/>
          <p:nvPr/>
        </p:nvSpPr>
        <p:spPr>
          <a:xfrm>
            <a:off x="548640" y="1764792"/>
            <a:ext cx="4562856" cy="3803904"/>
          </a:xfrm>
          <a:prstGeom prst="roundRect">
            <a:avLst>
              <a:gd name="adj" fmla="val 432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103B31">
                <a:alpha val="12000"/>
              </a:srgbClr>
            </a:outerShdw>
          </a:effectLst>
        </p:spPr>
      </p:sp>
      <p:pic>
        <p:nvPicPr>
          <p:cNvPr id="6" name="sale-draft.png" descr="C:\Users\karab\AppData\Local\Temp\claude\C--Users-karab-Documents-Codex-2026-10-15-x20-work-qadamx-taraz\98b8d6a1-c5ca-4d94-a3c0-6a78f348368c\scratchpad\deck\sale-draf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874520"/>
            <a:ext cx="4343400" cy="358444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57150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Экран черновика AI · синтетический снимок с другими суммами</a:t>
            </a:r>
            <a:endParaRPr lang="en-US" sz="1100" dirty="0"/>
          </a:p>
        </p:txBody>
      </p:sp>
      <p:sp>
        <p:nvSpPr>
          <p:cNvPr id="8" name="row-1"/>
          <p:cNvSpPr/>
          <p:nvPr/>
        </p:nvSpPr>
        <p:spPr>
          <a:xfrm>
            <a:off x="5486400" y="1783080"/>
            <a:ext cx="6156655" cy="1005840"/>
          </a:xfrm>
          <a:prstGeom prst="roundRect">
            <a:avLst>
              <a:gd name="adj" fmla="val 16364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103B31">
                <a:alpha val="12000"/>
              </a:srgbClr>
            </a:outerShdw>
          </a:effectLst>
        </p:spPr>
      </p:sp>
      <p:sp>
        <p:nvSpPr>
          <p:cNvPr id="9" name="num-1"/>
          <p:cNvSpPr/>
          <p:nvPr/>
        </p:nvSpPr>
        <p:spPr>
          <a:xfrm>
            <a:off x="5760720" y="2029968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760720" y="20299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1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6446520" y="178308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Продажа 3 000 ₸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получено 1 000 ₸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9555480" y="1783080"/>
            <a:ext cx="185897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Долг 2 000 ₸</a:t>
            </a:r>
            <a:endParaRPr lang="en-US" sz="2400" dirty="0"/>
          </a:p>
        </p:txBody>
      </p:sp>
      <p:sp>
        <p:nvSpPr>
          <p:cNvPr id="13" name="row-2"/>
          <p:cNvSpPr/>
          <p:nvPr/>
        </p:nvSpPr>
        <p:spPr>
          <a:xfrm>
            <a:off x="5486400" y="2971800"/>
            <a:ext cx="6156655" cy="1005840"/>
          </a:xfrm>
          <a:prstGeom prst="roundRect">
            <a:avLst>
              <a:gd name="adj" fmla="val 16364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103B31">
                <a:alpha val="12000"/>
              </a:srgbClr>
            </a:outerShdw>
          </a:effectLst>
        </p:spPr>
      </p:sp>
      <p:sp>
        <p:nvSpPr>
          <p:cNvPr id="14" name="num-2"/>
          <p:cNvSpPr/>
          <p:nvPr/>
        </p:nvSpPr>
        <p:spPr>
          <a:xfrm>
            <a:off x="5760720" y="3218688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760720" y="32186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2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6446520" y="297180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Доплата 500 ₸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9555480" y="2971800"/>
            <a:ext cx="185897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Долг 1 500 ₸</a:t>
            </a:r>
            <a:endParaRPr lang="en-US" sz="2400" dirty="0"/>
          </a:p>
        </p:txBody>
      </p:sp>
      <p:sp>
        <p:nvSpPr>
          <p:cNvPr id="18" name="day-total"/>
          <p:cNvSpPr/>
          <p:nvPr/>
        </p:nvSpPr>
        <p:spPr>
          <a:xfrm>
            <a:off x="5486400" y="4206240"/>
            <a:ext cx="6156655" cy="1417320"/>
          </a:xfrm>
          <a:prstGeom prst="roundRect">
            <a:avLst>
              <a:gd name="adj" fmla="val 11613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  <a:effectLst>
            <a:outerShdw sx="100000" sy="100000" kx="0" ky="0" algn="bl" rotWithShape="0" blurRad="101600" dist="25400" dir="5400000">
              <a:srgbClr val="103B31">
                <a:alpha val="12000"/>
              </a:srgbClr>
            </a:outerShdw>
          </a:effectLst>
        </p:spPr>
      </p:sp>
      <p:sp>
        <p:nvSpPr>
          <p:cNvPr id="19" name="Text 16"/>
          <p:cNvSpPr txBox="1"/>
          <p:nvPr/>
        </p:nvSpPr>
        <p:spPr>
          <a:xfrm>
            <a:off x="5760720" y="427939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2E2D4"/>
                </a:solidFill>
              </a:rPr>
              <a:t>Итог дня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5760720" y="4645152"/>
            <a:ext cx="186933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3 000 ₸</a:t>
            </a:r>
            <a:endParaRPr lang="en-US" sz="26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Продажи</a:t>
            </a:r>
            <a:endParaRPr lang="en-US" sz="2600" dirty="0"/>
          </a:p>
        </p:txBody>
      </p:sp>
      <p:sp>
        <p:nvSpPr>
          <p:cNvPr id="21" name="Text 18"/>
          <p:cNvSpPr txBox="1"/>
          <p:nvPr/>
        </p:nvSpPr>
        <p:spPr>
          <a:xfrm>
            <a:off x="7630058" y="4645152"/>
            <a:ext cx="186933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1 500 ₸</a:t>
            </a:r>
            <a:endParaRPr lang="en-US" sz="26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Поступления</a:t>
            </a:r>
            <a:endParaRPr lang="en-US" sz="2600" dirty="0"/>
          </a:p>
        </p:txBody>
      </p:sp>
      <p:sp>
        <p:nvSpPr>
          <p:cNvPr id="22" name="Text 19"/>
          <p:cNvSpPr txBox="1"/>
          <p:nvPr/>
        </p:nvSpPr>
        <p:spPr>
          <a:xfrm>
            <a:off x="9499397" y="4645152"/>
            <a:ext cx="186933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1 500 ₸</a:t>
            </a:r>
            <a:endParaRPr lang="en-US" sz="26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Долг</a:t>
            </a:r>
            <a:endParaRPr lang="en-US" sz="2600" dirty="0"/>
          </a:p>
        </p:txBody>
      </p:sp>
      <p:sp>
        <p:nvSpPr>
          <p:cNvPr id="23" name="Text 20"/>
          <p:cNvSpPr txBox="1"/>
          <p:nvPr/>
        </p:nvSpPr>
        <p:spPr>
          <a:xfrm>
            <a:off x="5486400" y="5715000"/>
            <a:ext cx="6156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Доплата — не новая продажа. Повторное нажатие не создаёт дубль.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8685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Измеряем, а не обещаем</a:t>
            </a:r>
            <a:endParaRPr lang="en-US" sz="3400" dirty="0"/>
          </a:p>
        </p:txBody>
      </p:sp>
      <p:sp>
        <p:nvSpPr>
          <p:cNvPr id="3" name="measured"/>
          <p:cNvSpPr/>
          <p:nvPr/>
        </p:nvSpPr>
        <p:spPr>
          <a:xfrm>
            <a:off x="548640" y="1463040"/>
            <a:ext cx="4114800" cy="4343400"/>
          </a:xfrm>
          <a:prstGeom prst="roundRect">
            <a:avLst>
              <a:gd name="adj" fmla="val 4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103B31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868680" y="16916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4"/>
                </a:solidFill>
              </a:rPr>
              <a:t>ИЗМЕРЕНО · ОДИН ПРОГОН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05740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chemeClr val="tx2"/>
                </a:solidFill>
              </a:rPr>
              <a:t>4,7 с</a:t>
            </a:r>
            <a:endParaRPr lang="en-US" sz="66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3246120"/>
            <a:ext cx="3520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Контрольный текстовый запрос к AI на рабочем сервере. 3 000 / 1 000 ₸ распознаны верно, денежная запись не создавалась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4892040"/>
            <a:ext cx="3520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Не средняя задержка. Задержка API — не время всей задачи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983480" y="1463040"/>
            <a:ext cx="66595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Проверяем: 5 операций одного участника</a:t>
            </a:r>
            <a:endParaRPr lang="en-US" sz="1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983480" y="2011680"/>
          <a:ext cx="6659575" cy="914400"/>
        </p:xfrm>
        <a:graphic>
          <a:graphicData uri="http://schemas.openxmlformats.org/drawingml/2006/table">
            <a:tbl>
              <a:tblPr/>
              <a:tblGrid>
                <a:gridCol w="2633472"/>
                <a:gridCol w="1005840"/>
                <a:gridCol w="1005840"/>
                <a:gridCol w="1005840"/>
                <a:gridCol w="100584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Операция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Вручную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Голосом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Правок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Верно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Продажа 3 000 / 1 000, KZ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Продажа 4 500 / 2 000, RU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Полная оплата 1 200, RU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Доплата 500, KZ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Фраза без суммы оплаты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 txBox="1"/>
          <p:nvPr/>
        </p:nvSpPr>
        <p:spPr>
          <a:xfrm>
            <a:off x="4983480" y="5029200"/>
            <a:ext cx="66595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Время в секундах. Заполняем только реальными замерами: пустая клетка лучше выдуманной цифры.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8685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Работает и защищает деньги</a:t>
            </a:r>
            <a:endParaRPr lang="en-US" sz="3400" dirty="0"/>
          </a:p>
        </p:txBody>
      </p:sp>
      <p:sp>
        <p:nvSpPr>
          <p:cNvPr id="3" name="client-1"/>
          <p:cNvSpPr/>
          <p:nvPr/>
        </p:nvSpPr>
        <p:spPr>
          <a:xfrm>
            <a:off x="548640" y="1463040"/>
            <a:ext cx="2834640" cy="868680"/>
          </a:xfrm>
          <a:prstGeom prst="roundRect">
            <a:avLst>
              <a:gd name="adj" fmla="val 1894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103B31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777240" y="146304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Сайт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Cloudflare Pages</a:t>
            </a:r>
            <a:endParaRPr lang="en-US" sz="1700" dirty="0"/>
          </a:p>
        </p:txBody>
      </p:sp>
      <p:sp>
        <p:nvSpPr>
          <p:cNvPr id="5" name="client-2"/>
          <p:cNvSpPr/>
          <p:nvPr/>
        </p:nvSpPr>
        <p:spPr>
          <a:xfrm>
            <a:off x="3566160" y="1463040"/>
            <a:ext cx="2834640" cy="868680"/>
          </a:xfrm>
          <a:prstGeom prst="roundRect">
            <a:avLst>
              <a:gd name="adj" fmla="val 1894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103B31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3794760" y="146304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Flutter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тестовые APK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331720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↓</a:t>
            </a:r>
            <a:endParaRPr lang="en-US" sz="2200" dirty="0"/>
          </a:p>
        </p:txBody>
      </p:sp>
      <p:sp>
        <p:nvSpPr>
          <p:cNvPr id="8" name="api"/>
          <p:cNvSpPr/>
          <p:nvPr/>
        </p:nvSpPr>
        <p:spPr>
          <a:xfrm>
            <a:off x="548640" y="2743200"/>
            <a:ext cx="5852160" cy="960120"/>
          </a:xfrm>
          <a:prstGeom prst="roundRect">
            <a:avLst>
              <a:gd name="adj" fmla="val 17143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  <a:effectLst>
            <a:outerShdw sx="100000" sy="100000" kx="0" ky="0" algn="bl" rotWithShape="0" blurRad="101600" dist="25400" dir="5400000">
              <a:srgbClr val="103B31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822960" y="2743200"/>
            <a:ext cx="5303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API · FastAPI на Render · 0.6.3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1"/>
                </a:solidFill>
              </a:rPr>
              <a:t>проверяет пользователя и принадлежность точке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703320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↓</a:t>
            </a:r>
            <a:endParaRPr lang="en-US" sz="2200" dirty="0"/>
          </a:p>
        </p:txBody>
      </p:sp>
      <p:sp>
        <p:nvSpPr>
          <p:cNvPr id="11" name="svc-1"/>
          <p:cNvSpPr/>
          <p:nvPr/>
        </p:nvSpPr>
        <p:spPr>
          <a:xfrm>
            <a:off x="548640" y="4114800"/>
            <a:ext cx="1828800" cy="868680"/>
          </a:xfrm>
          <a:prstGeom prst="roundRect">
            <a:avLst>
              <a:gd name="adj" fmla="val 1894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103B31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731520" y="4114800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Supabase Auth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вход</a:t>
            </a:r>
            <a:endParaRPr lang="en-US" sz="1500" dirty="0"/>
          </a:p>
        </p:txBody>
      </p:sp>
      <p:sp>
        <p:nvSpPr>
          <p:cNvPr id="13" name="svc-2"/>
          <p:cNvSpPr/>
          <p:nvPr/>
        </p:nvSpPr>
        <p:spPr>
          <a:xfrm>
            <a:off x="2560320" y="4114800"/>
            <a:ext cx="1828800" cy="868680"/>
          </a:xfrm>
          <a:prstGeom prst="roundRect">
            <a:avLst>
              <a:gd name="adj" fmla="val 1894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103B31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2743200" y="4114800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PostgreSQL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журнал в тиынах</a:t>
            </a:r>
            <a:endParaRPr lang="en-US" sz="1500" dirty="0"/>
          </a:p>
        </p:txBody>
      </p:sp>
      <p:sp>
        <p:nvSpPr>
          <p:cNvPr id="15" name="svc-3"/>
          <p:cNvSpPr/>
          <p:nvPr/>
        </p:nvSpPr>
        <p:spPr>
          <a:xfrm>
            <a:off x="4572000" y="4114800"/>
            <a:ext cx="1828800" cy="868680"/>
          </a:xfrm>
          <a:prstGeom prst="roundRect">
            <a:avLst>
              <a:gd name="adj" fmla="val 1894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103B31">
                <a:alpha val="1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4754880" y="4114800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OpenAI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речь → черновик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5212080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Выпуск 8fa0029 проверен: вход двух продавцов, изоляция точек, история, аналитика</a:t>
            </a:r>
            <a:endParaRPr lang="en-US" sz="1200" dirty="0"/>
          </a:p>
        </p:txBody>
      </p:sp>
      <p:sp>
        <p:nvSpPr>
          <p:cNvPr id="18" name="num-1"/>
          <p:cNvSpPr/>
          <p:nvPr/>
        </p:nvSpPr>
        <p:spPr>
          <a:xfrm>
            <a:off x="6812280" y="1517904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812280" y="151790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1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7406640" y="1463040"/>
            <a:ext cx="423641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Записывает только продавец после проверки</a:t>
            </a:r>
            <a:endParaRPr lang="en-US" sz="1600" dirty="0"/>
          </a:p>
        </p:txBody>
      </p:sp>
      <p:sp>
        <p:nvSpPr>
          <p:cNvPr id="21" name="num-2"/>
          <p:cNvSpPr/>
          <p:nvPr/>
        </p:nvSpPr>
        <p:spPr>
          <a:xfrm>
            <a:off x="6812280" y="2176272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812280" y="21762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2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7406640" y="2121408"/>
            <a:ext cx="423641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Балансы и долги считает сервер</a:t>
            </a:r>
            <a:endParaRPr lang="en-US" sz="1600" dirty="0"/>
          </a:p>
        </p:txBody>
      </p:sp>
      <p:sp>
        <p:nvSpPr>
          <p:cNvPr id="24" name="num-3"/>
          <p:cNvSpPr/>
          <p:nvPr/>
        </p:nvSpPr>
        <p:spPr>
          <a:xfrm>
            <a:off x="6812280" y="283464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812280" y="28346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3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7406640" y="2779776"/>
            <a:ext cx="423641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Чужая точка недоступна</a:t>
            </a:r>
            <a:endParaRPr lang="en-US" sz="1600" dirty="0"/>
          </a:p>
        </p:txBody>
      </p:sp>
      <p:sp>
        <p:nvSpPr>
          <p:cNvPr id="27" name="num-4"/>
          <p:cNvSpPr/>
          <p:nvPr/>
        </p:nvSpPr>
        <p:spPr>
          <a:xfrm>
            <a:off x="6812280" y="3493008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812280" y="34930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4</a:t>
            </a:r>
            <a:endParaRPr lang="en-US" sz="1800" dirty="0"/>
          </a:p>
        </p:txBody>
      </p:sp>
      <p:sp>
        <p:nvSpPr>
          <p:cNvPr id="29" name="Text 27"/>
          <p:cNvSpPr txBox="1"/>
          <p:nvPr/>
        </p:nvSpPr>
        <p:spPr>
          <a:xfrm>
            <a:off x="7406640" y="3438144"/>
            <a:ext cx="423641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Повтор запроса не создаёт дубль</a:t>
            </a:r>
            <a:endParaRPr lang="en-US" sz="1600" dirty="0"/>
          </a:p>
        </p:txBody>
      </p:sp>
      <p:sp>
        <p:nvSpPr>
          <p:cNvPr id="30" name="image-frame"/>
          <p:cNvSpPr/>
          <p:nvPr/>
        </p:nvSpPr>
        <p:spPr>
          <a:xfrm>
            <a:off x="6793992" y="4233672"/>
            <a:ext cx="4867351" cy="843502"/>
          </a:xfrm>
          <a:prstGeom prst="roundRect">
            <a:avLst>
              <a:gd name="adj" fmla="val 19513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103B31">
                <a:alpha val="12000"/>
              </a:srgbClr>
            </a:outerShdw>
          </a:effectLst>
        </p:spPr>
      </p:sp>
      <p:pic>
        <p:nvPicPr>
          <p:cNvPr id="31" name="venues-3d.png" descr="C:\Users\karab\AppData\Local\Temp\claude\C--Users-karab-Documents-Codex-2026-10-15-x20-work-qadamx-taraz\98b8d6a1-c5ca-4d94-a3c0-6a78f348368c\scratchpad\deck\venues-3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0" y="4343400"/>
            <a:ext cx="4647895" cy="624046"/>
          </a:xfrm>
          <a:prstGeom prst="rect">
            <a:avLst/>
          </a:prstGeom>
        </p:spPr>
      </p:pic>
      <p:sp>
        <p:nvSpPr>
          <p:cNvPr id="32" name="Text 29"/>
          <p:cNvSpPr txBox="1"/>
          <p:nvPr/>
        </p:nvSpPr>
        <p:spPr>
          <a:xfrm>
            <a:off x="6812280" y="5120640"/>
            <a:ext cx="48307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Витрина для покупателей: 3 площадки в 3D и списком, каталог, заявка продавцу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8685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Пилот: 3–5 продавцов, 2 недели</a:t>
            </a:r>
            <a:endParaRPr lang="en-US" sz="3400" dirty="0"/>
          </a:p>
        </p:txBody>
      </p:sp>
      <p:sp>
        <p:nvSpPr>
          <p:cNvPr id="3" name="pilot-1"/>
          <p:cNvSpPr/>
          <p:nvPr/>
        </p:nvSpPr>
        <p:spPr>
          <a:xfrm>
            <a:off x="548640" y="1463040"/>
            <a:ext cx="3515258" cy="3383280"/>
          </a:xfrm>
          <a:prstGeom prst="roundRect">
            <a:avLst>
              <a:gd name="adj" fmla="val 486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103B31">
                <a:alpha val="12000"/>
              </a:srgbClr>
            </a:outerShdw>
          </a:effectLst>
        </p:spPr>
      </p:sp>
      <p:sp>
        <p:nvSpPr>
          <p:cNvPr id="4" name="num-1"/>
          <p:cNvSpPr/>
          <p:nvPr/>
        </p:nvSpPr>
        <p:spPr>
          <a:xfrm>
            <a:off x="868680" y="173736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377440"/>
            <a:ext cx="28751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Что делаем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926080"/>
            <a:ext cx="287517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Продавцы ведут продажи, оплаты и долги в Qadam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Голосом или вручную, RU/KZ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Помогаем с первым входом</a:t>
            </a:r>
            <a:endParaRPr lang="en-US" sz="1500" dirty="0"/>
          </a:p>
        </p:txBody>
      </p:sp>
      <p:sp>
        <p:nvSpPr>
          <p:cNvPr id="8" name="pilot-2"/>
          <p:cNvSpPr/>
          <p:nvPr/>
        </p:nvSpPr>
        <p:spPr>
          <a:xfrm>
            <a:off x="4338218" y="1463040"/>
            <a:ext cx="3515258" cy="3383280"/>
          </a:xfrm>
          <a:prstGeom prst="roundRect">
            <a:avLst>
              <a:gd name="adj" fmla="val 486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103B31">
                <a:alpha val="12000"/>
              </a:srgbClr>
            </a:outerShdw>
          </a:effectLst>
        </p:spPr>
      </p:sp>
      <p:sp>
        <p:nvSpPr>
          <p:cNvPr id="9" name="num-2"/>
          <p:cNvSpPr/>
          <p:nvPr/>
        </p:nvSpPr>
        <p:spPr>
          <a:xfrm>
            <a:off x="4658258" y="173736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58258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4658258" y="2377440"/>
            <a:ext cx="28751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Что измеряем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4658258" y="2926080"/>
            <a:ext cx="287517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Время на одну верную запись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Точность черновиков и число исправлений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Пользуются ли продавцы через неделю</a:t>
            </a:r>
            <a:endParaRPr lang="en-US" sz="1500" dirty="0"/>
          </a:p>
        </p:txBody>
      </p:sp>
      <p:sp>
        <p:nvSpPr>
          <p:cNvPr id="13" name="pilot-3"/>
          <p:cNvSpPr/>
          <p:nvPr/>
        </p:nvSpPr>
        <p:spPr>
          <a:xfrm>
            <a:off x="8127797" y="1463040"/>
            <a:ext cx="3515258" cy="3383280"/>
          </a:xfrm>
          <a:prstGeom prst="roundRect">
            <a:avLst>
              <a:gd name="adj" fmla="val 4865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  <a:effectLst>
            <a:outerShdw sx="100000" sy="100000" kx="0" ky="0" algn="bl" rotWithShape="0" blurRad="101600" dist="25400" dir="5400000">
              <a:srgbClr val="103B31">
                <a:alpha val="12000"/>
              </a:srgbClr>
            </a:outerShdw>
          </a:effectLst>
        </p:spPr>
      </p:sp>
      <p:sp>
        <p:nvSpPr>
          <p:cNvPr id="14" name="num-3"/>
          <p:cNvSpPr/>
          <p:nvPr/>
        </p:nvSpPr>
        <p:spPr>
          <a:xfrm>
            <a:off x="8447837" y="173736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447837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3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8447837" y="2377440"/>
            <a:ext cx="28751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Модель — гипотеза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8447837" y="2926080"/>
            <a:ext cx="287517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Подписка для торговой точки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Цену назовём после пилота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Партнёрств с рынками пока нет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512064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Ищем продавцов Кайкармета, Ауыл Береке и магазинов Тараза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8685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C:\Users\karab\AppData\Local\Temp\claude\C--Users-karab-Documents-Codex-2026-10-15-x20-work-qadamx-taraz\98b8d6a1-c5ca-4d94-a3c0-6a78f348368c\scratchpad\deck\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85800"/>
            <a:ext cx="685800" cy="6858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40080" y="1600200"/>
            <a:ext cx="6583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Продажа голосом.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Долг под контролем.</a:t>
            </a:r>
            <a:endParaRPr lang="en-US" sz="44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3474720"/>
            <a:ext cx="6675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2E2D4"/>
                </a:solidFill>
              </a:rPr>
              <a:t>Qadam помогает продавцу не держать долги в голове.</a:t>
            </a:r>
            <a:endParaRPr lang="en-US" sz="20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443484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Ищем 3–5 продавцов для пилота и ждём вашу обратную связь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53492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2E2D4"/>
                </a:solidFill>
              </a:rPr>
              <a:t>Капитан: Дамир · github.com/foxfordkz-cyber</a:t>
            </a:r>
            <a:endParaRPr lang="en-US" sz="1400" dirty="0"/>
          </a:p>
        </p:txBody>
      </p:sp>
      <p:sp>
        <p:nvSpPr>
          <p:cNvPr id="7" name="qr-frame-1"/>
          <p:cNvSpPr/>
          <p:nvPr/>
        </p:nvSpPr>
        <p:spPr>
          <a:xfrm>
            <a:off x="7360920" y="1600200"/>
            <a:ext cx="1874520" cy="1874520"/>
          </a:xfrm>
          <a:prstGeom prst="roundRect">
            <a:avLst>
              <a:gd name="adj" fmla="val 6829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8" name="qr-site.png" descr="C:\Users\karab\AppData\Local\Temp\claude\C--Users-karab-Documents-Codex-2026-10-15-x20-work-qadamx-taraz\98b8d6a1-c5ca-4d94-a3c0-6a78f348368c\scratchpad\deck\qr-s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0" y="1691640"/>
            <a:ext cx="1691640" cy="169164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7360920" y="3611880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Сайт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qadamx-taraz.pages.dev</a:t>
            </a:r>
            <a:endParaRPr lang="en-US" sz="1400" dirty="0"/>
          </a:p>
        </p:txBody>
      </p:sp>
      <p:sp>
        <p:nvSpPr>
          <p:cNvPr id="10" name="qr-frame-2"/>
          <p:cNvSpPr/>
          <p:nvPr/>
        </p:nvSpPr>
        <p:spPr>
          <a:xfrm>
            <a:off x="9555480" y="1600200"/>
            <a:ext cx="1874520" cy="1874520"/>
          </a:xfrm>
          <a:prstGeom prst="roundRect">
            <a:avLst>
              <a:gd name="adj" fmla="val 6829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11" name="qr-repo.png" descr="C:\Users\karab\AppData\Local\Temp\claude\C--Users-karab-Documents-Codex-2026-10-15-x20-work-qadamx-taraz\98b8d6a1-c5ca-4d94-a3c0-6a78f348368c\scratchpad\deck\qr-rep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0" y="1691640"/>
            <a:ext cx="1691640" cy="169164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9555480" y="3611880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GitHub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foxfordkz-cyber/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qadamx-taraz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Статус MVP и ограничения</a:t>
            </a:r>
            <a:endParaRPr lang="en-US" sz="3400" dirty="0"/>
          </a:p>
        </p:txBody>
      </p:sp>
      <p:sp>
        <p:nvSpPr>
          <p:cNvPr id="3" name="status-1"/>
          <p:cNvSpPr/>
          <p:nvPr/>
        </p:nvSpPr>
        <p:spPr>
          <a:xfrm>
            <a:off x="548640" y="1463040"/>
            <a:ext cx="5410048" cy="3200400"/>
          </a:xfrm>
          <a:prstGeom prst="roundRect">
            <a:avLst>
              <a:gd name="adj" fmla="val 5143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103B31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868680" y="1645920"/>
            <a:ext cx="476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Работает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194560"/>
            <a:ext cx="476996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Вход и доступ только к своим точкам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Голосовой и текстовый черновик, ручной ввод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Продажи, частичная оплата, долги, отмена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Клиенты, история, итог дня, аналитика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Защита от повторной записи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Витрина в 3D и списком, каталог, заявки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Интерфейс RU/KZ</a:t>
            </a:r>
            <a:endParaRPr lang="en-US" sz="1500" dirty="0"/>
          </a:p>
        </p:txBody>
      </p:sp>
      <p:sp>
        <p:nvSpPr>
          <p:cNvPr id="6" name="status-2"/>
          <p:cNvSpPr/>
          <p:nvPr/>
        </p:nvSpPr>
        <p:spPr>
          <a:xfrm>
            <a:off x="6233008" y="1463040"/>
            <a:ext cx="5410048" cy="3200400"/>
          </a:xfrm>
          <a:prstGeom prst="roundRect">
            <a:avLst>
              <a:gd name="adj" fmla="val 5143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103B31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553048" y="1645920"/>
            <a:ext cx="476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3"/>
                </a:solidFill>
              </a:rPr>
              <a:t>Ещё не принято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553048" y="2194560"/>
            <a:ext cx="476996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Физические iPhone/Safari и Android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Регистрация и email callback (#43)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Замер: ручной ввод против голоса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Мал базар: справочник рынков пуст, цен нет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Бесплатный Render просыпается до минуты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93776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Точки, товары и клиенты учебные. Партнёрств с площадками нет, 3D — условная схема.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8685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Архитектура и безопасность</a:t>
            </a:r>
            <a:endParaRPr lang="en-US" sz="3400" dirty="0"/>
          </a:p>
        </p:txBody>
      </p:sp>
      <p:sp>
        <p:nvSpPr>
          <p:cNvPr id="3" name="sec-1"/>
          <p:cNvSpPr/>
          <p:nvPr/>
        </p:nvSpPr>
        <p:spPr>
          <a:xfrm>
            <a:off x="548640" y="1463040"/>
            <a:ext cx="3515258" cy="1828800"/>
          </a:xfrm>
          <a:prstGeom prst="roundRect">
            <a:avLst>
              <a:gd name="adj" fmla="val 9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103B31">
                <a:alpha val="12000"/>
              </a:srgbClr>
            </a:outerShdw>
          </a:effectLst>
        </p:spPr>
      </p:sp>
      <p:sp>
        <p:nvSpPr>
          <p:cNvPr id="4" name="num-1"/>
          <p:cNvSpPr/>
          <p:nvPr/>
        </p:nvSpPr>
        <p:spPr>
          <a:xfrm>
            <a:off x="868680" y="173736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286000"/>
            <a:ext cx="287517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Вход</a:t>
            </a:r>
            <a:endParaRPr lang="en-US" sz="1900" dirty="0"/>
          </a:p>
          <a:p>
            <a:pPr indent="0" marL="0">
              <a:buNone/>
            </a:pPr>
            <a:r>
              <a:rPr lang="en-US" sz="1500" dirty="0">
                <a:solidFill>
                  <a:schemeClr val="accent4"/>
                </a:solidFill>
              </a:rPr>
              <a:t>Supabase JWT на каждом закрытом запросе</a:t>
            </a:r>
            <a:endParaRPr lang="en-US" sz="1900" dirty="0"/>
          </a:p>
        </p:txBody>
      </p:sp>
      <p:sp>
        <p:nvSpPr>
          <p:cNvPr id="7" name="sec-2"/>
          <p:cNvSpPr/>
          <p:nvPr/>
        </p:nvSpPr>
        <p:spPr>
          <a:xfrm>
            <a:off x="4338218" y="1463040"/>
            <a:ext cx="3515258" cy="1828800"/>
          </a:xfrm>
          <a:prstGeom prst="roundRect">
            <a:avLst>
              <a:gd name="adj" fmla="val 9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103B31">
                <a:alpha val="12000"/>
              </a:srgbClr>
            </a:outerShdw>
          </a:effectLst>
        </p:spPr>
      </p:sp>
      <p:sp>
        <p:nvSpPr>
          <p:cNvPr id="8" name="num-2"/>
          <p:cNvSpPr/>
          <p:nvPr/>
        </p:nvSpPr>
        <p:spPr>
          <a:xfrm>
            <a:off x="4658258" y="173736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658258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4658258" y="2286000"/>
            <a:ext cx="287517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Доступ</a:t>
            </a:r>
            <a:endParaRPr lang="en-US" sz="1900" dirty="0"/>
          </a:p>
          <a:p>
            <a:pPr indent="0" marL="0">
              <a:buNone/>
            </a:pPr>
            <a:r>
              <a:rPr lang="en-US" sz="1500" dirty="0">
                <a:solidFill>
                  <a:schemeClr val="accent4"/>
                </a:solidFill>
              </a:rPr>
              <a:t>Проверка принадлежности точке, чужая точка — 404</a:t>
            </a:r>
            <a:endParaRPr lang="en-US" sz="1900" dirty="0"/>
          </a:p>
        </p:txBody>
      </p:sp>
      <p:sp>
        <p:nvSpPr>
          <p:cNvPr id="11" name="sec-3"/>
          <p:cNvSpPr/>
          <p:nvPr/>
        </p:nvSpPr>
        <p:spPr>
          <a:xfrm>
            <a:off x="8127797" y="1463040"/>
            <a:ext cx="3515258" cy="1828800"/>
          </a:xfrm>
          <a:prstGeom prst="roundRect">
            <a:avLst>
              <a:gd name="adj" fmla="val 9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103B31">
                <a:alpha val="12000"/>
              </a:srgbClr>
            </a:outerShdw>
          </a:effectLst>
        </p:spPr>
      </p:sp>
      <p:sp>
        <p:nvSpPr>
          <p:cNvPr id="12" name="num-3"/>
          <p:cNvSpPr/>
          <p:nvPr/>
        </p:nvSpPr>
        <p:spPr>
          <a:xfrm>
            <a:off x="8447837" y="173736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447837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3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8447837" y="2286000"/>
            <a:ext cx="287517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Деньги</a:t>
            </a:r>
            <a:endParaRPr lang="en-US" sz="1900" dirty="0"/>
          </a:p>
          <a:p>
            <a:pPr indent="0" marL="0">
              <a:buNone/>
            </a:pPr>
            <a:r>
              <a:rPr lang="en-US" sz="1500" dirty="0">
                <a:solidFill>
                  <a:schemeClr val="accent4"/>
                </a:solidFill>
              </a:rPr>
              <a:t>Целые тиыны, балансы считает сервер</a:t>
            </a:r>
            <a:endParaRPr lang="en-US" sz="1900" dirty="0"/>
          </a:p>
        </p:txBody>
      </p:sp>
      <p:sp>
        <p:nvSpPr>
          <p:cNvPr id="15" name="sec-4"/>
          <p:cNvSpPr/>
          <p:nvPr/>
        </p:nvSpPr>
        <p:spPr>
          <a:xfrm>
            <a:off x="548640" y="3566160"/>
            <a:ext cx="3515258" cy="1828800"/>
          </a:xfrm>
          <a:prstGeom prst="roundRect">
            <a:avLst>
              <a:gd name="adj" fmla="val 9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103B31">
                <a:alpha val="12000"/>
              </a:srgbClr>
            </a:outerShdw>
          </a:effectLst>
        </p:spPr>
      </p:sp>
      <p:sp>
        <p:nvSpPr>
          <p:cNvPr id="16" name="num-4"/>
          <p:cNvSpPr/>
          <p:nvPr/>
        </p:nvSpPr>
        <p:spPr>
          <a:xfrm>
            <a:off x="868680" y="384048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68680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4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868680" y="4389120"/>
            <a:ext cx="287517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Запись</a:t>
            </a:r>
            <a:endParaRPr lang="en-US" sz="1900" dirty="0"/>
          </a:p>
          <a:p>
            <a:pPr indent="0" marL="0">
              <a:buNone/>
            </a:pPr>
            <a:r>
              <a:rPr lang="en-US" sz="1500" dirty="0">
                <a:solidFill>
                  <a:schemeClr val="accent4"/>
                </a:solidFill>
              </a:rPr>
              <a:t>Атомарная и идемпотентная, повтор не создаёт дубль</a:t>
            </a:r>
            <a:endParaRPr lang="en-US" sz="1900" dirty="0"/>
          </a:p>
        </p:txBody>
      </p:sp>
      <p:sp>
        <p:nvSpPr>
          <p:cNvPr id="19" name="sec-5"/>
          <p:cNvSpPr/>
          <p:nvPr/>
        </p:nvSpPr>
        <p:spPr>
          <a:xfrm>
            <a:off x="4338218" y="3566160"/>
            <a:ext cx="3515258" cy="1828800"/>
          </a:xfrm>
          <a:prstGeom prst="roundRect">
            <a:avLst>
              <a:gd name="adj" fmla="val 9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103B31">
                <a:alpha val="12000"/>
              </a:srgbClr>
            </a:outerShdw>
          </a:effectLst>
        </p:spPr>
      </p:sp>
      <p:sp>
        <p:nvSpPr>
          <p:cNvPr id="20" name="num-5"/>
          <p:cNvSpPr/>
          <p:nvPr/>
        </p:nvSpPr>
        <p:spPr>
          <a:xfrm>
            <a:off x="4658258" y="384048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658258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5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4658258" y="4389120"/>
            <a:ext cx="287517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Ключи</a:t>
            </a:r>
            <a:endParaRPr lang="en-US" sz="1900" dirty="0"/>
          </a:p>
          <a:p>
            <a:pPr indent="0" marL="0">
              <a:buNone/>
            </a:pPr>
            <a:r>
              <a:rPr lang="en-US" sz="1500" dirty="0">
                <a:solidFill>
                  <a:schemeClr val="accent4"/>
                </a:solidFill>
              </a:rPr>
              <a:t>Ключи AI и базы только на сервере</a:t>
            </a:r>
            <a:endParaRPr lang="en-US" sz="1900" dirty="0"/>
          </a:p>
        </p:txBody>
      </p:sp>
      <p:sp>
        <p:nvSpPr>
          <p:cNvPr id="23" name="sec-6"/>
          <p:cNvSpPr/>
          <p:nvPr/>
        </p:nvSpPr>
        <p:spPr>
          <a:xfrm>
            <a:off x="8127797" y="3566160"/>
            <a:ext cx="3515258" cy="1828800"/>
          </a:xfrm>
          <a:prstGeom prst="roundRect">
            <a:avLst>
              <a:gd name="adj" fmla="val 9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103B31">
                <a:alpha val="12000"/>
              </a:srgbClr>
            </a:outerShdw>
          </a:effectLst>
        </p:spPr>
      </p:sp>
      <p:sp>
        <p:nvSpPr>
          <p:cNvPr id="24" name="num-6"/>
          <p:cNvSpPr/>
          <p:nvPr/>
        </p:nvSpPr>
        <p:spPr>
          <a:xfrm>
            <a:off x="8447837" y="384048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447837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6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8447837" y="4389120"/>
            <a:ext cx="287517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Аудио</a:t>
            </a:r>
            <a:endParaRPr lang="en-US" sz="1900" dirty="0"/>
          </a:p>
          <a:p>
            <a:pPr indent="0" marL="0">
              <a:buNone/>
            </a:pPr>
            <a:r>
              <a:rPr lang="en-US" sz="1500" dirty="0">
                <a:solidFill>
                  <a:schemeClr val="accent4"/>
                </a:solidFill>
              </a:rPr>
              <a:t>Обрабатывается в памяти, на нашем сервере не сохраняется</a:t>
            </a:r>
            <a:endParaRPr lang="en-US" sz="19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571500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Путь данных: сайт или Flutter → FastAPI → Supabase Auth, PostgreSQL, OpenAI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8685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Тетрадь, таблица, CRM и Qadam</a:t>
            </a:r>
            <a:endParaRPr lang="en-US" sz="3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4415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2103120"/>
                <a:gridCol w="2103120"/>
                <a:gridCol w="2286000"/>
                <a:gridCol w="2468880"/>
              </a:tblGrid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00" dirty="0"/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E1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Тетрадь</a:t>
                      </a:r>
                      <a:endParaRPr lang="en-US" sz="1500" dirty="0"/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E1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Таблица</a:t>
                      </a:r>
                      <a:endParaRPr lang="en-US" sz="1500" dirty="0"/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E1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Универсальная CRM</a:t>
                      </a:r>
                      <a:endParaRPr lang="en-US" sz="1500" dirty="0"/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E1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2"/>
                          </a:solidFill>
                        </a:rPr>
                        <a:t>Qadam</a:t>
                      </a:r>
                      <a:endParaRPr lang="en-US" sz="1500" dirty="0"/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E1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Как записать</a:t>
                      </a:r>
                      <a:endParaRPr lang="en-US" sz="1500" dirty="0"/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E1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От руки, быстро</a:t>
                      </a:r>
                      <a:endParaRPr lang="en-US" sz="1500" dirty="0"/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E1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Поля на телефоне</a:t>
                      </a:r>
                      <a:endParaRPr lang="en-US" sz="1500" dirty="0"/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E1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Формы и справочники</a:t>
                      </a:r>
                      <a:endParaRPr lang="en-US" sz="1500" dirty="0"/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E1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Одна фраза RU/KZ и проверка</a:t>
                      </a:r>
                      <a:endParaRPr lang="en-US" sz="1500" dirty="0"/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E1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BD9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Кто считает долг</a:t>
                      </a:r>
                      <a:endParaRPr lang="en-US" sz="1500" dirty="0"/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E1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Продавец в уме</a:t>
                      </a:r>
                      <a:endParaRPr lang="en-US" sz="1500" dirty="0"/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E1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Формулы, если настроить</a:t>
                      </a:r>
                      <a:endParaRPr lang="en-US" sz="1500" dirty="0"/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E1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Зависит от настройки</a:t>
                      </a:r>
                      <a:endParaRPr lang="en-US" sz="1500" dirty="0"/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E1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Сервер</a:t>
                      </a:r>
                      <a:endParaRPr lang="en-US" sz="1500" dirty="0"/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E1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BD9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С чего начать</a:t>
                      </a:r>
                      <a:endParaRPr lang="en-US" sz="1500" dirty="0"/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E1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Ничего не нужно</a:t>
                      </a:r>
                      <a:endParaRPr lang="en-US" sz="1500" dirty="0"/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E1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Нужен шаблон</a:t>
                      </a:r>
                      <a:endParaRPr lang="en-US" sz="1500" dirty="0"/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E1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Нужно внедрение</a:t>
                      </a:r>
                      <a:endParaRPr lang="en-US" sz="1500" dirty="0"/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E1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Вход и своя точка</a:t>
                      </a:r>
                      <a:endParaRPr lang="en-US" sz="1500" dirty="0"/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E1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BD9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12064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4"/>
                </a:solidFill>
              </a:rPr>
              <a:t>Это сравнение сценариев, а не замер. Преимущество во времени и точности проверим в пилоте.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8685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Методика замеров и пилот</a:t>
            </a:r>
            <a:endParaRPr lang="en-US" sz="3400" dirty="0"/>
          </a:p>
        </p:txBody>
      </p:sp>
      <p:sp>
        <p:nvSpPr>
          <p:cNvPr id="3" name="method-1"/>
          <p:cNvSpPr/>
          <p:nvPr/>
        </p:nvSpPr>
        <p:spPr>
          <a:xfrm>
            <a:off x="548640" y="1463040"/>
            <a:ext cx="5410048" cy="3383280"/>
          </a:xfrm>
          <a:prstGeom prst="roundRect">
            <a:avLst>
              <a:gd name="adj" fmla="val 486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103B31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868680" y="1645920"/>
            <a:ext cx="476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Как замеряем сейчас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240280"/>
            <a:ext cx="476996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Одни и те же 5 операций вручную и голосом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Порядок чередуем: в нечётных сначала вручную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Время — от начала ввода до сохранённой верной записи, с ожиданием AI и исправлениями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Задержку API считаем отдельно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5 операций одного участника — мини-замер, не исследование</a:t>
            </a:r>
            <a:endParaRPr lang="en-US" sz="1500" dirty="0"/>
          </a:p>
        </p:txBody>
      </p:sp>
      <p:sp>
        <p:nvSpPr>
          <p:cNvPr id="6" name="method-2"/>
          <p:cNvSpPr/>
          <p:nvPr/>
        </p:nvSpPr>
        <p:spPr>
          <a:xfrm>
            <a:off x="6233008" y="1463040"/>
            <a:ext cx="5410048" cy="3383280"/>
          </a:xfrm>
          <a:prstGeom prst="roundRect">
            <a:avLst>
              <a:gd name="adj" fmla="val 4865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  <a:effectLst>
            <a:outerShdw sx="100000" sy="100000" kx="0" ky="0" algn="bl" rotWithShape="0" blurRad="101600" dist="25400" dir="5400000">
              <a:srgbClr val="103B31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553048" y="1645920"/>
            <a:ext cx="476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Что считаем в пилоте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553048" y="2240280"/>
            <a:ext cx="476996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Медиана времени на верную запись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Доля черновиков без исправлений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Ошибки сумм в итоговой базе — цель 0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Дубли при повторах — цель 0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Доля продавцов, работающих на второй неделе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8685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Qadam">
  <a:themeElements>
    <a:clrScheme name="Qadam">
      <a:dk1>
        <a:srgbClr val="172A26"/>
      </a:dk1>
      <a:lt1>
        <a:srgbClr val="FFFFFF"/>
      </a:lt1>
      <a:dk2>
        <a:srgbClr val="164C3E"/>
      </a:dk2>
      <a:lt2>
        <a:srgbClr val="F5F3EB"/>
      </a:lt2>
      <a:accent1>
        <a:srgbClr val="D7F36A"/>
      </a:accent1>
      <a:accent2>
        <a:srgbClr val="103B31"/>
      </a:accent2>
      <a:accent3>
        <a:srgbClr val="F0A94B"/>
      </a:accent3>
      <a:accent4>
        <a:srgbClr val="58685F"/>
      </a:accent4>
      <a:accent5>
        <a:srgbClr val="E1E2D8"/>
      </a:accent5>
      <a:accent6>
        <a:srgbClr val="1F5F73"/>
      </a:accent6>
      <a:hlink>
        <a:srgbClr val="164C3E"/>
      </a:hlink>
      <a:folHlink>
        <a:srgbClr val="58685F"/>
      </a:folHlink>
    </a:clrScheme>
    <a:fontScheme name="Qadam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Qadam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Qadam Business — защита</dc:title>
  <dc:subject>PptxGenJS Presentation</dc:subject>
  <dc:creator>Команда Qadam</dc:creator>
  <cp:lastModifiedBy>Команда Qadam</cp:lastModifiedBy>
  <cp:revision>1</cp:revision>
  <dcterms:created xsi:type="dcterms:W3CDTF">2026-10-17T17:04:56Z</dcterms:created>
  <dcterms:modified xsi:type="dcterms:W3CDTF">2026-10-17T17:04:56Z</dcterms:modified>
</cp:coreProperties>
</file>